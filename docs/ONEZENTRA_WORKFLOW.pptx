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23760" y="0"/>
            <a:ext cx="4974336" cy="6858000"/>
          </a:xfrm>
          <a:prstGeom prst="rect">
            <a:avLst/>
          </a:prstGeom>
          <a:solidFill>
            <a:srgbClr val="3F3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85800"/>
            <a:ext cx="2103120" cy="509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691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SISTEM MANAJEMEN GUDANG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ONEZENTRA
Warehouse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3977639"/>
            <a:ext cx="16459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FFFFF"/>
                </a:solidFill>
                <a:latin typeface="Calibri"/>
              </a:rPr>
              <a:t>Workflow · Fungsi · Tujuan Aplikasi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7D2FE"/>
                </a:solidFill>
                <a:latin typeface="Calibri"/>
              </a:rPr>
              <a:t>Next.js 16 (Web)  ·  Laravel 11 API  ·  PostgreSQL/SQLite  ·  Flutter (Mobile)
Dokumen pendukung: docs/WORKFLOW_TUJUAN_SISTEM.md · docs/project_flow.md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9488"/>
                </a:solidFill>
                <a:latin typeface="Calibri"/>
              </a:rPr>
              <a:t>INTI SISTEM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840480" cy="731520"/>
          </a:xfrm>
          <a:prstGeom prst="roundRect">
            <a:avLst>
              <a:gd name="adj" fmla="val 20000"/>
            </a:avLst>
          </a:prstGeom>
          <a:solidFill>
            <a:srgbClr val="4C4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031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Alur 4 tahap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520"/>
            <a:ext cx="3840480" cy="731520"/>
          </a:xfrm>
          <a:prstGeom prst="roundRect">
            <a:avLst>
              <a:gd name="adj" fmla="val 20000"/>
            </a:avLst>
          </a:prstGeom>
          <a:solidFill>
            <a:srgbClr val="4C4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01752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Batch otomatis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931920"/>
            <a:ext cx="3840480" cy="731520"/>
          </a:xfrm>
          <a:prstGeom prst="roundRect">
            <a:avLst>
              <a:gd name="adj" fmla="val 20000"/>
            </a:avLst>
          </a:prstGeom>
          <a:solidFill>
            <a:srgbClr val="4C4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93192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9319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RBAC &amp;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846320"/>
            <a:ext cx="3840480" cy="731520"/>
          </a:xfrm>
          <a:prstGeom prst="roundRect">
            <a:avLst>
              <a:gd name="adj" fmla="val 20000"/>
            </a:avLst>
          </a:prstGeom>
          <a:solidFill>
            <a:srgbClr val="4C4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846320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8463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Laporan &amp; biaya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64008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965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Tujuan Aplikasi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3055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Masalah yang dipecahkan &amp; sasaran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6400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1965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Tampilan 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3055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Dashboard &amp; layar utama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8892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788920"/>
            <a:ext cx="64008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08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971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Arsitektur &amp; Modul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192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Empat lapisan · enam grup menu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78892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788920"/>
            <a:ext cx="6400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008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971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Workflow Utama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3192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Replenishment → Gate → Validasi → Check 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97764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77640"/>
            <a:ext cx="64008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970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1605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Alur Data &amp; Barcode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50799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Scan sekali, batch &amp; label otomatis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97764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977640"/>
            <a:ext cx="6400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19709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1605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Workflow Pendukung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50799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Opname, biaya, laporan, 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6636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166360"/>
            <a:ext cx="64008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8581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349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Keamanan &amp; Peran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6967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RBAC, audit trail, tanggung jawab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166360"/>
            <a:ext cx="5303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166360"/>
            <a:ext cx="6400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38581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349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2E81"/>
                </a:solidFill>
                <a:latin typeface="Calibri"/>
              </a:rPr>
              <a:t>Manfaat &amp; Batasan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6967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KPI dan modul yang belum 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MENGAPA SISTEM INI DIBUAT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Tujuan Aplikasi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C2626"/>
                </a:solidFill>
                <a:latin typeface="Calibri"/>
              </a:rPr>
              <a:t>❌  MASALAH PADA PROSES MANUAL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01952"/>
            <a:ext cx="521208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Rencana kirim &amp; Surat Jalan berbasis kertas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Barang dibongkar tanpa pencocokan dokumen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Selisih qty baru ketahuan saat stok opname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Batch &amp; masa berlaku produk tidak terpantau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Biaya disetujui lewat chat — tanpa jejak audit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0">
                <a:solidFill>
                  <a:srgbClr val="1E293B"/>
                </a:solidFill>
                <a:latin typeface="Calibri"/>
              </a:rPr>
              <a:t>Hak akses data tidak jelas antar fungsi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361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D9488"/>
                </a:solidFill>
                <a:latin typeface="Calibri"/>
              </a:rPr>
              <a:t>✅  TUJUAN SISTEM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01952"/>
            <a:ext cx="5257800" cy="411480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1">
                <a:solidFill>
                  <a:srgbClr val="1E293B"/>
                </a:solidFill>
                <a:latin typeface="Calibri"/>
              </a:rPr>
              <a:t>Kontrol alur barang</a:t>
            </a:r>
            <a:r>
              <a:rPr sz="1500" b="0">
                <a:solidFill>
                  <a:srgbClr val="1E293B"/>
                </a:solidFill>
                <a:latin typeface="Calibri"/>
              </a:rPr>
              <a:t> — satu jalur wajib untuk setiap truk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1">
                <a:solidFill>
                  <a:srgbClr val="1E293B"/>
                </a:solidFill>
                <a:latin typeface="Calibri"/>
              </a:rPr>
              <a:t>Ketepatan data</a:t>
            </a:r>
            <a:r>
              <a:rPr sz="1500" b="0">
                <a:solidFill>
                  <a:srgbClr val="1E293B"/>
                </a:solidFill>
                <a:latin typeface="Calibri"/>
              </a:rPr>
              <a:t> — produk discan sekali, diteruskan otomatis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1">
                <a:solidFill>
                  <a:srgbClr val="1E293B"/>
                </a:solidFill>
                <a:latin typeface="Calibri"/>
              </a:rPr>
              <a:t>Ketertelusuran</a:t>
            </a:r>
            <a:r>
              <a:rPr sz="1500" b="0">
                <a:solidFill>
                  <a:srgbClr val="1E293B"/>
                </a:solidFill>
                <a:latin typeface="Calibri"/>
              </a:rPr>
              <a:t> — status, batch, aktivitas user tercatat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1">
                <a:solidFill>
                  <a:srgbClr val="1E293B"/>
                </a:solidFill>
                <a:latin typeface="Calibri"/>
              </a:rPr>
              <a:t>Kepatuhan finansial</a:t>
            </a:r>
            <a:r>
              <a:rPr sz="1500" b="0">
                <a:solidFill>
                  <a:srgbClr val="1E293B"/>
                </a:solidFill>
                <a:latin typeface="Calibri"/>
              </a:rPr>
              <a:t> — biaya cair setelah approval berjenjang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▸ </a:t>
            </a:r>
            <a:r>
              <a:rPr sz="1500" b="1">
                <a:solidFill>
                  <a:srgbClr val="1E293B"/>
                </a:solidFill>
                <a:latin typeface="Calibri"/>
              </a:rPr>
              <a:t>Keamanan akses</a:t>
            </a:r>
            <a:r>
              <a:rPr sz="1500" b="0">
                <a:solidFill>
                  <a:srgbClr val="1E293B"/>
                </a:solidFill>
                <a:latin typeface="Calibri"/>
              </a:rPr>
              <a:t> — permission per aksi, sesi cookie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DUA LAYAR PALING SERING DIPAKAI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Tampilan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572768"/>
            <a:ext cx="5504688" cy="34815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5394960" cy="3371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10921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Dashboard — KPI, perlu tindakan, progres rencana kirim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572768"/>
            <a:ext cx="5367528" cy="339585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27632"/>
            <a:ext cx="5257800" cy="3286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023485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Data Master NPN — katalog produk + import/export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EMPAT LAPISAN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2638044" cy="100584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🖥️  Frontend Web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Next.js 16 · React 19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9836" y="1908048"/>
            <a:ext cx="164592" cy="3352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7852" y="1572768"/>
            <a:ext cx="2638044" cy="100584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🔐  Proxy / Auth Guard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proxy.ts · cookie sesi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1908048"/>
            <a:ext cx="164592" cy="3352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5624" y="1572768"/>
            <a:ext cx="2638044" cy="100584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⚙️  Backend API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Laravel 11 · /api/v1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55380" y="1908048"/>
            <a:ext cx="164592" cy="3352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83396" y="1572768"/>
            <a:ext cx="2638044" cy="100584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🗄️  Database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PostgreSQL · 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260604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26080"/>
            <a:ext cx="26060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30723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072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081528"/>
            <a:ext cx="1892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onezentra-web/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474720"/>
            <a:ext cx="2313432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32 halaman</a:t>
            </a:r>
            <a:r>
              <a:rPr sz="1200" b="0">
                <a:solidFill>
                  <a:srgbClr val="1E293B"/>
                </a:solidFill>
                <a:latin typeface="Calibri"/>
              </a:rPr>
              <a:t> App Router, Tailwind 4, Zustand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Guard auth via </a:t>
            </a:r>
            <a:r>
              <a:rPr sz="1200" b="1">
                <a:solidFill>
                  <a:srgbClr val="1E293B"/>
                </a:solidFill>
                <a:latin typeface="Calibri"/>
              </a:rPr>
              <a:t>proxy.ts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Teruskan /api/* &amp; /sanctum/* ke backend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PDF client-side (Surat Jalan &amp; Biaya)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Cetak label ESC/POS via Web Bluetooth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926080"/>
            <a:ext cx="260604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2926080"/>
            <a:ext cx="26060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75304" y="30723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3072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928" y="3081528"/>
            <a:ext cx="1892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app/ — Laravel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474720"/>
            <a:ext cx="2313432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32 controller</a:t>
            </a:r>
            <a:r>
              <a:rPr sz="1200" b="0">
                <a:solidFill>
                  <a:srgbClr val="1E293B"/>
                </a:solidFill>
                <a:latin typeface="Calibri"/>
              </a:rPr>
              <a:t> prefix /api/v1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37 model · state machine terkunci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Middleware permission:* + track.activity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4 service: approval, email, opname, resolver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20+ export Excel + template import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26080"/>
            <a:ext cx="260604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26060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64224" y="30723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072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081528"/>
            <a:ext cx="1892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onezentra_mobile/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474720"/>
            <a:ext cx="2313432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Flutter — login &amp; akses API yang sama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Bearer token khusus mobile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Provider + GoRouter, theme mengikuti web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0">
                <a:solidFill>
                  <a:srgbClr val="1E293B"/>
                </a:solidFill>
                <a:latin typeface="Calibri"/>
              </a:rPr>
              <a:t>Builder label ESC/POS siap dipindah native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2926080"/>
            <a:ext cx="260604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2926080"/>
            <a:ext cx="26060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53144" y="30723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3072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3081528"/>
            <a:ext cx="1892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Konsep Kunci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3474720"/>
            <a:ext cx="2313432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Stateless API</a:t>
            </a:r>
            <a:r>
              <a:rPr sz="1200" b="0">
                <a:solidFill>
                  <a:srgbClr val="1E293B"/>
                </a:solidFill>
                <a:latin typeface="Calibri"/>
              </a:rPr>
              <a:t> — semua data lewat REST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Scan sekali</a:t>
            </a:r>
            <a:r>
              <a:rPr sz="1200" b="0">
                <a:solidFill>
                  <a:srgbClr val="1E293B"/>
                </a:solidFill>
                <a:latin typeface="Calibri"/>
              </a:rPr>
              <a:t> di Validasi SJ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Transisi sah</a:t>
            </a:r>
            <a:r>
              <a:rPr sz="1200" b="0">
                <a:solidFill>
                  <a:srgbClr val="1E293B"/>
                </a:solidFill>
                <a:latin typeface="Calibri"/>
              </a:rPr>
              <a:t> saja (422 bila ilegal)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▸ </a:t>
            </a:r>
            <a:r>
              <a:rPr sz="1200" b="1">
                <a:solidFill>
                  <a:srgbClr val="1E293B"/>
                </a:solidFill>
                <a:latin typeface="Calibri"/>
              </a:rPr>
              <a:t>Audit trail</a:t>
            </a:r>
            <a:r>
              <a:rPr sz="1200" b="0">
                <a:solidFill>
                  <a:srgbClr val="1E293B"/>
                </a:solidFill>
                <a:latin typeface="Calibri"/>
              </a:rPr>
              <a:t> — user_activity_logs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ENAM GRUP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Peta Modul &amp; Fungsi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34747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007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007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0992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Operasional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0312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Replenishment — buat &amp; jadwalkan kirim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Check In Point — gate-in kendaraan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Validasi Dokumen — cocokkan SJ vs fisik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Check Out Point — selesaikan bongkar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Inbound (SJ) — master penerimaan depo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4747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9704" y="17007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17007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70992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Opname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10312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Batch Expired — monitoring mingguan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Sesi Opname — verifikasi lapangan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AMAN / PERHATIAN / KRITIS / EXPIRED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55448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554480"/>
            <a:ext cx="34747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4" y="17007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17007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170992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Master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10312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NPN — katalog produk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Cluster Principal — pengelompokan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Standar Umur — umur simpan standar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Standarisasi — tier &amp; tumpukan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8620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886200"/>
            <a:ext cx="34747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404164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Biaya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43484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Biaya THL — tenaga harian lepas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Biaya Retribusi — biaya per dokumen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Tarif Retribusi — tarif per depo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88620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3886200"/>
            <a:ext cx="34747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8970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970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404164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Laporan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9704" y="443484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Replenishment · Inbound · Batch Expired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Selisih Qty · Penerimaan &amp; Expired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Biaya THL · Biaya Retribusi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Filter tanggal + depo → ekspor Excel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886200"/>
            <a:ext cx="347472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3886200"/>
            <a:ext cx="34747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9302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404164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Sistem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4434840"/>
            <a:ext cx="31821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Users · Roles &amp; Permissions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Pengaturan Approval · Reset Data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Setting Email · Penerima Email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Dashboard KPI &amp; aktivitas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SATU JALUR WAJIB UNTUK SETIAP TRUK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Workflow Utama — Alur Besar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2638044" cy="105156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📋  1. REPLENISHMENT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Admin Planner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9836" y="1886712"/>
            <a:ext cx="164592" cy="3505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7852" y="1536192"/>
            <a:ext cx="2638044" cy="105156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🚧  2. CHECK IN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1886712"/>
            <a:ext cx="164592" cy="3505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5624" y="1536192"/>
            <a:ext cx="2638044" cy="105156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✅  3. VALIDASI SJ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Cheker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55380" y="1886712"/>
            <a:ext cx="164592" cy="35052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83396" y="1536192"/>
            <a:ext cx="2638044" cy="105156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📦  4. CHECK OUT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Cheker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2638044" cy="9144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DRAFT → SCHEDULED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rencana dijadwalkan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59836" y="3093720"/>
            <a:ext cx="164592" cy="3048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7852" y="2788920"/>
            <a:ext cx="2638044" cy="9144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CHECKED_IN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kendaraan tercatat masuk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07608" y="3093720"/>
            <a:ext cx="164592" cy="3048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2788920"/>
            <a:ext cx="2638044" cy="9144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qty, kondisi, expired + batch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55380" y="3093720"/>
            <a:ext cx="164592" cy="3048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83396" y="2788920"/>
            <a:ext cx="2638044" cy="9144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IN_PROGRESS → COMPLETED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bongkar selesai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0D9488"/>
                </a:solidFill>
                <a:latin typeface="Calibri"/>
              </a:rPr>
              <a:t>▸ </a:t>
            </a:r>
            <a:r>
              <a:rPr sz="1550" b="1">
                <a:solidFill>
                  <a:srgbClr val="1E293B"/>
                </a:solidFill>
                <a:latin typeface="Calibri"/>
              </a:rPr>
              <a:t>Satu-satunya titik scan produk</a:t>
            </a:r>
            <a:r>
              <a:rPr sz="1550" b="0">
                <a:solidFill>
                  <a:srgbClr val="1E293B"/>
                </a:solidFill>
                <a:latin typeface="Calibri"/>
              </a:rPr>
              <a:t> adalah Validasi SJ — hasilnya diteruskan otomatis ke Receiving.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0D9488"/>
                </a:solidFill>
                <a:latin typeface="Calibri"/>
              </a:rPr>
              <a:t>▸ </a:t>
            </a:r>
            <a:r>
              <a:rPr sz="1550" b="0">
                <a:solidFill>
                  <a:srgbClr val="1E293B"/>
                </a:solidFill>
                <a:latin typeface="Calibri"/>
              </a:rPr>
              <a:t>Status hanya berpindah lewat </a:t>
            </a:r>
            <a:r>
              <a:rPr sz="1550" b="1">
                <a:solidFill>
                  <a:srgbClr val="1E293B"/>
                </a:solidFill>
                <a:latin typeface="Calibri"/>
              </a:rPr>
              <a:t>transisi sah</a:t>
            </a:r>
            <a:r>
              <a:rPr sz="1550" b="0">
                <a:solidFill>
                  <a:srgbClr val="1E293B"/>
                </a:solidFill>
                <a:latin typeface="Calibri"/>
              </a:rPr>
              <a:t>; transisi ilegal ditolak </a:t>
            </a:r>
            <a:r>
              <a:rPr sz="1550" b="1">
                <a:solidFill>
                  <a:srgbClr val="1E293B"/>
                </a:solidFill>
                <a:latin typeface="Calibri"/>
              </a:rPr>
              <a:t>HTTP 422</a:t>
            </a:r>
            <a:r>
              <a:rPr sz="1550" b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0D9488"/>
                </a:solidFill>
                <a:latin typeface="Calibri"/>
              </a:rPr>
              <a:t>▸ </a:t>
            </a:r>
            <a:r>
              <a:rPr sz="1550" b="0">
                <a:solidFill>
                  <a:srgbClr val="1E293B"/>
                </a:solidFill>
                <a:latin typeface="Calibri"/>
              </a:rPr>
              <a:t>Setiap tahap memicu </a:t>
            </a:r>
            <a:r>
              <a:rPr sz="1550" b="1">
                <a:solidFill>
                  <a:srgbClr val="1E293B"/>
                </a:solidFill>
                <a:latin typeface="Calibri"/>
              </a:rPr>
              <a:t>notifikasi email</a:t>
            </a:r>
            <a:r>
              <a:rPr sz="1550" b="0">
                <a:solidFill>
                  <a:srgbClr val="1E293B"/>
                </a:solidFill>
                <a:latin typeface="Calibri"/>
              </a:rPr>
              <a:t> dan menyimpan </a:t>
            </a:r>
            <a:r>
              <a:rPr sz="1550" b="1">
                <a:solidFill>
                  <a:srgbClr val="1E293B"/>
                </a:solidFill>
                <a:latin typeface="Calibri"/>
              </a:rPr>
              <a:t>aktivitas user</a:t>
            </a:r>
            <a:r>
              <a:rPr sz="1550" b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PEMBAGIAN TUGAS ANTAR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Workflow Utama — Siapa Mengerjakan 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2240280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143000"/>
            <a:ext cx="2240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TAHAP 1 · Replenishment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143000"/>
            <a:ext cx="2240280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2240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TAHAP 2 · Check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143000"/>
            <a:ext cx="2240280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143000"/>
            <a:ext cx="2240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TAHAP 3 · Validasi SJ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143000"/>
            <a:ext cx="2240280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143000"/>
            <a:ext cx="2240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TAHAP 4 · Check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600200"/>
            <a:ext cx="1828800" cy="841248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Admin Planner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600200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06040" y="1600200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5768" y="1600200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Buat rencana · isi dokumen &amp; barang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00200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83480" y="1600200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8" y="1600200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Jadwalkan (SCHEDULED)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600200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9892" y="2005584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360" y="1600200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57332" y="2005584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2587752"/>
            <a:ext cx="1828800" cy="841248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587752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2587752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5012" y="2993136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80" y="2587752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2587752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3208" y="2587752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Scan barcode · gate-in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2587752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9892" y="2993136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38360" y="2587752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57332" y="2993136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3575304"/>
            <a:ext cx="1828800" cy="841248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575304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Cheker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3575304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25012" y="3980688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83480" y="3575304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02452" y="3980688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60920" y="3575304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60920" y="3575304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0648" y="3575304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Scan item · qty · expired · kondisi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8360" y="3575304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738360" y="3575304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48088" y="3575304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Scan PO · bongkar · selesai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562856"/>
            <a:ext cx="1828800" cy="841248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562856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Sistem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40" y="4562856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606040" y="4562856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15768" y="4562856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Email TO BLC, CC Cheker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4562856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02452" y="4968240"/>
            <a:ext cx="402336" cy="304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60920" y="4562856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60920" y="4562856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0648" y="4562856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Batch BATCH-/LBL- + Receiving otomatis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8360" y="4562856"/>
            <a:ext cx="22402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38360" y="4562856"/>
            <a:ext cx="2240280" cy="841248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48088" y="4562856"/>
            <a:ext cx="202082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Dock AVAILABLE · email selesai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2E81"/>
                </a:solidFill>
                <a:latin typeface="Calibri"/>
              </a:rPr>
              <a:t>Panah alur: Planner (1) → Security (2) → Cheker (3) → Sistem (auto) → Cheker (4) → Sistem (auto)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ATURAN PERPINDAHAN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State Machine Rencana Kirim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DRAFT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43912" y="1862328"/>
            <a:ext cx="164592" cy="2895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71928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SCHEDULED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🗓️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75760" y="1862328"/>
            <a:ext cx="164592" cy="2895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3776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CHECKED_IN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7608" y="1862328"/>
            <a:ext cx="164592" cy="2895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5624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9456" y="1862328"/>
            <a:ext cx="164592" cy="2895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7472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IN_PROGRESS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71304" y="1862328"/>
            <a:ext cx="164592" cy="2895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99320" y="1572768"/>
            <a:ext cx="1722120" cy="86868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COMPLETED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108813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52928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Dari DRAFT / SCHEDULED / CHECKED_IN / VERIFIED / IN_PROGRESS  →  CANCELLED      (COMPLETED &amp; CANCELLED = status akhir)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3675887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853440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Aturan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Efek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Transisi ilegal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Ditolak HTTP 422 — PUT /rencana-kirim/{id} tidak dapat mengubah status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Edit item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Hanya sah saat DRAFT/SCHEDULED; setelah CHECKED_IN item jadi acuan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Gate In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Hanya diterima saat SCHEDULED; duplikat ditolak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Validasi selesai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Otomatis membuat Receiving + ReceivingItems (status PENDING)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Receiving selesai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Dock kembali AVAILABLE, batch siap, email 'Proses Bongkar Selesai'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Sesi Opname aktif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Rencana tidak boleh diubah sampai sesi dibatalkan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PERAN: ADMIN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Langkah 1 — Replenishment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493776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93776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28216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Alur 5 Langkah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464515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Buka </a:t>
            </a:r>
            <a:r>
              <a:rPr sz="1250" b="1">
                <a:solidFill>
                  <a:srgbClr val="1E293B"/>
                </a:solidFill>
                <a:latin typeface="Calibri"/>
              </a:rPr>
              <a:t>kalender</a:t>
            </a:r>
            <a:r>
              <a:rPr sz="1250" b="0">
                <a:solidFill>
                  <a:srgbClr val="1E293B"/>
                </a:solidFill>
                <a:latin typeface="Calibri"/>
              </a:rPr>
              <a:t> → pilih bulan &amp; tanggal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Isi </a:t>
            </a:r>
            <a:r>
              <a:rPr sz="1250" b="1">
                <a:solidFill>
                  <a:srgbClr val="1E293B"/>
                </a:solidFill>
                <a:latin typeface="Calibri"/>
              </a:rPr>
              <a:t>dokumen</a:t>
            </a:r>
            <a:r>
              <a:rPr sz="1250" b="0">
                <a:solidFill>
                  <a:srgbClr val="1E293B"/>
                </a:solidFill>
                <a:latin typeface="Calibri"/>
              </a:rPr>
              <a:t>: No. SJ/BA + Tanggal RKH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Isi </a:t>
            </a:r>
            <a:r>
              <a:rPr sz="1250" b="1">
                <a:solidFill>
                  <a:srgbClr val="1E293B"/>
                </a:solidFill>
                <a:latin typeface="Calibri"/>
              </a:rPr>
              <a:t>kendaraan</a:t>
            </a:r>
            <a:r>
              <a:rPr sz="1250" b="0">
                <a:solidFill>
                  <a:srgbClr val="1E293B"/>
                </a:solidFill>
                <a:latin typeface="Calibri"/>
              </a:rPr>
              <a:t>: driver, ekspedisi, nopol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Isi </a:t>
            </a:r>
            <a:r>
              <a:rPr sz="1250" b="1">
                <a:solidFill>
                  <a:srgbClr val="1E293B"/>
                </a:solidFill>
                <a:latin typeface="Calibri"/>
              </a:rPr>
              <a:t>pengirim &amp; tujuan</a:t>
            </a:r>
            <a:r>
              <a:rPr sz="1250" b="0">
                <a:solidFill>
                  <a:srgbClr val="1E293B"/>
                </a:solidFill>
                <a:latin typeface="Calibri"/>
              </a:rPr>
              <a:t> (depo)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Pilih </a:t>
            </a:r>
            <a:r>
              <a:rPr sz="1250" b="1">
                <a:solidFill>
                  <a:srgbClr val="1E293B"/>
                </a:solidFill>
                <a:latin typeface="Calibri"/>
              </a:rPr>
              <a:t>produk NPN</a:t>
            </a:r>
            <a:r>
              <a:rPr sz="1250" b="0">
                <a:solidFill>
                  <a:srgbClr val="1E293B"/>
                </a:solidFill>
                <a:latin typeface="Calibri"/>
              </a:rPr>
              <a:t> / import Excel → Simpan &amp; Jadwal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4937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49377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41648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Aturan &amp; Keluaran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434840"/>
            <a:ext cx="46451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`po_transporter` </a:t>
            </a:r>
            <a:r>
              <a:rPr sz="1250" b="1">
                <a:solidFill>
                  <a:srgbClr val="1E293B"/>
                </a:solidFill>
                <a:latin typeface="Calibri"/>
              </a:rPr>
              <a:t>unik per depo</a:t>
            </a:r>
            <a:r>
              <a:rPr sz="1250" b="0">
                <a:solidFill>
                  <a:srgbClr val="1E293B"/>
                </a:solidFill>
                <a:latin typeface="Calibri"/>
              </a:rPr>
              <a:t> (duplikat 422)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Kubikasi terhitung live dari data NPN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Simpan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email TO BLC, CC Cheker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Surat Jalan PDF (barcode Code39) dari browser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1636776"/>
            <a:ext cx="5687568" cy="35958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plenis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577840" cy="3486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528751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Replenishment — kalender + daftar rencana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PERAN: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Langkah 2 — Check In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493776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937760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28216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Calibri"/>
              </a:rPr>
              <a:t>Yang Dilakukan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464515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Truk tiba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scan barcode PO Transporter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Atau cari no. dokumen (pencarian cepat)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Sistem cek status rencana → harus </a:t>
            </a:r>
            <a:r>
              <a:rPr sz="1250" b="1">
                <a:solidFill>
                  <a:srgbClr val="1E293B"/>
                </a:solidFill>
                <a:latin typeface="Calibri"/>
              </a:rPr>
              <a:t>SCHEDULED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Transaksi INBOUND tersimpan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CHECKED_IN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4937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493776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41648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Validasi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434840"/>
            <a:ext cx="46451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POST /api/v1/gate-transactions (permission `gate.create`)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Duplikat check-in </a:t>
            </a:r>
            <a:r>
              <a:rPr sz="1250" b="1">
                <a:solidFill>
                  <a:srgbClr val="1E293B"/>
                </a:solidFill>
                <a:latin typeface="Calibri"/>
              </a:rPr>
              <a:t>ditolak 422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Statistik gate per depo &amp; tanggal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1636776"/>
            <a:ext cx="5687568" cy="35958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577840" cy="3486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528751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Check In Point — pencarian dokumen &amp; scan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PERAN: CHEKER · TITIK PALING KRITIS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Langkah 3 — Validasi Dokumen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4937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9377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28216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Input per Item (scan)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46451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`actual_qty` (wajib) vs expected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`expired_date`, `barcode`, `notes`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`condition`: GOOD / DAMAGED / MISSING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`tier` &amp; `tinggi_tumpukan` → Standarisasi (pending)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49377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493776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3941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9410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Otomatis oleh Sistem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343400"/>
            <a:ext cx="4645152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1 row </a:t>
            </a:r>
            <a:r>
              <a:rPr sz="1250" b="1">
                <a:solidFill>
                  <a:srgbClr val="1E293B"/>
                </a:solidFill>
                <a:latin typeface="Calibri"/>
              </a:rPr>
              <a:t>batches</a:t>
            </a:r>
            <a:r>
              <a:rPr sz="1250" b="0">
                <a:solidFill>
                  <a:srgbClr val="1E293B"/>
                </a:solidFill>
                <a:latin typeface="Calibri"/>
              </a:rPr>
              <a:t> per produk → BATCH- &amp; LBL-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Idempoten — scan ulang tidak menggandakan batch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Receiving + ReceivingItems dibuat (PENDING)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Status rencana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VERIFIED</a:t>
            </a:r>
            <a:r>
              <a:rPr sz="1250" b="0">
                <a:solidFill>
                  <a:srgbClr val="1E293B"/>
                </a:solidFill>
                <a:latin typeface="Calibri"/>
              </a:rPr>
              <a:t> · email terkirim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1636776"/>
            <a:ext cx="5687568" cy="35958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alidasi-s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577840" cy="3486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528751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Validasi Dokumen — daftar item &amp; scan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PERAN: CHEKER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Langkah 4 — Check Out (Receiving)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493776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9377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28216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Yang Dilakukan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464515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Buka Check Out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scan barcode PO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Barcode harus cocok dengan `po_transporter`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Quick Scan juga dengan </a:t>
            </a:r>
            <a:r>
              <a:rPr sz="1250" b="1">
                <a:solidFill>
                  <a:srgbClr val="1E293B"/>
                </a:solidFill>
                <a:latin typeface="Calibri"/>
              </a:rPr>
              <a:t>nama driver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Klik </a:t>
            </a:r>
            <a:r>
              <a:rPr sz="1250" b="1">
                <a:solidFill>
                  <a:srgbClr val="1E293B"/>
                </a:solidFill>
                <a:latin typeface="Calibri"/>
              </a:rPr>
              <a:t>Selesai Bongkar</a:t>
            </a:r>
            <a:r>
              <a:rPr sz="1250" b="0">
                <a:solidFill>
                  <a:srgbClr val="1E293B"/>
                </a:solidFill>
                <a:latin typeface="Calibri"/>
              </a:rPr>
              <a:t> — tanpa scan ulang produk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4937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493776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403250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41648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Dampak Sistem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434840"/>
            <a:ext cx="46451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Status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COMPLETED</a:t>
            </a:r>
            <a:r>
              <a:rPr sz="1250" b="0">
                <a:solidFill>
                  <a:srgbClr val="1E293B"/>
                </a:solidFill>
                <a:latin typeface="Calibri"/>
              </a:rPr>
              <a:t> (status akhir)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Dock kembali AVAILABLE · batch siap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Email </a:t>
            </a:r>
            <a:r>
              <a:rPr sz="1250" b="1">
                <a:solidFill>
                  <a:srgbClr val="1E293B"/>
                </a:solidFill>
                <a:latin typeface="Calibri"/>
              </a:rPr>
              <a:t>Proses Bongkar Selesai</a:t>
            </a:r>
            <a:r>
              <a:rPr sz="1250" b="0">
                <a:solidFill>
                  <a:srgbClr val="1E293B"/>
                </a:solidFill>
                <a:latin typeface="Calibri"/>
              </a:rPr>
              <a:t> (TO BLC)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Dasar laporan Inbound &amp; Selisih Qty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1636776"/>
            <a:ext cx="5687568" cy="35958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cei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577840" cy="3486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528751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Check Out — Quick Scan &amp; progres bongkar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KENAPA CUKUP SCAN SEKALI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Alur Data &amp; Barcode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📋  Daftar Barang RK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rencana_kirim_items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43912" y="1950720"/>
            <a:ext cx="164592" cy="3962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71928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🔎  Snapshot Validasi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sj_validation_items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75760" y="1950720"/>
            <a:ext cx="164592" cy="3962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3776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📲  Input Scan Item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qty · expired · kondisi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7608" y="1950720"/>
            <a:ext cx="164592" cy="3962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5624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🏷️  Batch Otomatis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BATCH-XXXXXXXX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9456" y="1950720"/>
            <a:ext cx="164592" cy="3962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7472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🖨️  Cetak Label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QR + LBL-XXXXXXXX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71304" y="1950720"/>
            <a:ext cx="164592" cy="3962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99320" y="1554480"/>
            <a:ext cx="1722120" cy="11887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📦  Receiving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receiving_items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54680"/>
            <a:ext cx="3520440" cy="2788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35204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3009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310128"/>
            <a:ext cx="2807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Titik Scan Tunggal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703320"/>
            <a:ext cx="3227832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Produk </a:t>
            </a:r>
            <a:r>
              <a:rPr sz="1250" b="1">
                <a:solidFill>
                  <a:srgbClr val="1E293B"/>
                </a:solidFill>
                <a:latin typeface="Calibri"/>
              </a:rPr>
              <a:t>hanya discan</a:t>
            </a:r>
            <a:r>
              <a:rPr sz="1250" b="0">
                <a:solidFill>
                  <a:srgbClr val="1E293B"/>
                </a:solidFill>
                <a:latin typeface="Calibri"/>
              </a:rPr>
              <a:t> di Validasi SJ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Hasil scan </a:t>
            </a:r>
            <a:r>
              <a:rPr sz="1250" b="1">
                <a:solidFill>
                  <a:srgbClr val="1E293B"/>
                </a:solidFill>
                <a:latin typeface="Calibri"/>
              </a:rPr>
              <a:t>diteruskan</a:t>
            </a:r>
            <a:r>
              <a:rPr sz="1250" b="0">
                <a:solidFill>
                  <a:srgbClr val="1E293B"/>
                </a:solidFill>
                <a:latin typeface="Calibri"/>
              </a:rPr>
              <a:t> ke Receiving, bukan diinput ulang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Menghindari selisih akibat input dua kali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Selisih qty terlihat langsung (expected vs actual)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154680"/>
            <a:ext cx="3520440" cy="2788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154680"/>
            <a:ext cx="35204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9704" y="33009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310128"/>
            <a:ext cx="2807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Identitas 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3703320"/>
            <a:ext cx="3227832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`batch_number` BATCH-XXXXXXXX (unik)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`barcode_label` LBL-XXXXXXXX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QR code encode batch_number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Teks: nama barang, qty, satuan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ESC/POS via Web Bluetooth / dialog 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154680"/>
            <a:ext cx="3474720" cy="2788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154680"/>
            <a:ext cx="3474720" cy="508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3024" y="330098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310128"/>
            <a:ext cx="2761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E81"/>
                </a:solidFill>
                <a:latin typeface="Calibri"/>
              </a:rPr>
              <a:t>Dampak ke Prospek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3703320"/>
            <a:ext cx="3182112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Laporan </a:t>
            </a:r>
            <a:r>
              <a:rPr sz="1250" b="1">
                <a:solidFill>
                  <a:srgbClr val="1E293B"/>
                </a:solidFill>
                <a:latin typeface="Calibri"/>
              </a:rPr>
              <a:t>Selisih Qty</a:t>
            </a:r>
            <a:r>
              <a:rPr sz="1250" b="0">
                <a:solidFill>
                  <a:srgbClr val="1E293B"/>
                </a:solidFill>
                <a:latin typeface="Calibri"/>
              </a:rPr>
              <a:t> otomatis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Monitoring </a:t>
            </a:r>
            <a:r>
              <a:rPr sz="1250" b="1">
                <a:solidFill>
                  <a:srgbClr val="1E293B"/>
                </a:solidFill>
                <a:latin typeface="Calibri"/>
              </a:rPr>
              <a:t>Batch Expired</a:t>
            </a:r>
            <a:r>
              <a:rPr sz="1250" b="0">
                <a:solidFill>
                  <a:srgbClr val="1E293B"/>
                </a:solidFill>
                <a:latin typeface="Calibri"/>
              </a:rPr>
              <a:t> per batch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Kubikasi turunan dari NPN (tanpa simpan)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Standarisasi tumpukan tercatat per produk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BATCH EXPIRED &amp; SESI OPNAME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Workflow Pendukung — Opname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72768"/>
          <a:ext cx="4937758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529"/>
                <a:gridCol w="934170"/>
                <a:gridCol w="2669059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Sisa Hari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Makna &amp; Aksi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AMAN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≥ 90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Stok aman, FIFO normal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PERHATIAN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≥ 30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Prioritaskan produk keluar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KRITIS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 – 29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Segera kirim / retur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EXPIRED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&lt; 0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Kedaluwarsa — wajib ditarik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34290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143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AMAN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34290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3429000"/>
            <a:ext cx="1143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PERHATIAN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34290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3824" y="3429000"/>
            <a:ext cx="1143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KRITIS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4290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3429000"/>
            <a:ext cx="1143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EXPIRED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493776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493776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407822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782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087368"/>
            <a:ext cx="42245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Generate Mingguan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464515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Agregat ReceivingItem per depo + barang + expired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Roll-forward batch lama yang belum EXPIRED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Catat perubahan: BARU · TETAP · NAIK · TURUN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72768"/>
            <a:ext cx="5577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572768"/>
            <a:ext cx="557784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990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728216"/>
            <a:ext cx="4864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Sesi Opname (Verifikasi Lapangan)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2121408"/>
            <a:ext cx="5285232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Buat sesi dari wave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Start</a:t>
            </a:r>
            <a:r>
              <a:rPr sz="1250" b="0">
                <a:solidFill>
                  <a:srgbClr val="1E293B"/>
                </a:solidFill>
                <a:latin typeface="Calibri"/>
              </a:rPr>
              <a:t> → verifikasi item → </a:t>
            </a:r>
            <a:r>
              <a:rPr sz="1250" b="1">
                <a:solidFill>
                  <a:srgbClr val="1E293B"/>
                </a:solidFill>
                <a:latin typeface="Calibri"/>
              </a:rPr>
              <a:t>Complete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Wave terkunci selama sesi IN_PROGRESS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Koreksi hanya qty_koreksi_crt / pcs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8736" y="3648456"/>
            <a:ext cx="3694176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pname-exp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703320"/>
            <a:ext cx="3584448" cy="2240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0" y="6053328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Batch Expired — monitoring per minggu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APPROVAL BERJENJANG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Workflow Pendukung — Biaya THL &amp; Retribusi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2088489" cy="9601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✍️  DRAFT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pengisi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10281" y="1874520"/>
            <a:ext cx="164592" cy="3200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8297" y="1554480"/>
            <a:ext cx="2088489" cy="9601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📤  SUBMIT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diajukan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08498" y="1874520"/>
            <a:ext cx="164592" cy="3200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36514" y="1554480"/>
            <a:ext cx="2088489" cy="9601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🔍  CHECKED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06715" y="1874520"/>
            <a:ext cx="164592" cy="3200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34731" y="1554480"/>
            <a:ext cx="2088489" cy="9601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👍  RLH_APPROVED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RLH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04932" y="1874520"/>
            <a:ext cx="164592" cy="32004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32948" y="1554480"/>
            <a:ext cx="2088489" cy="9601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💰  APPROVED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RFAH/BLC/BAC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51760"/>
            <a:ext cx="1088136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06624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C2626"/>
                </a:solidFill>
                <a:latin typeface="Calibri"/>
              </a:rPr>
              <a:t>REJECTED dapat terjadi di tahap mana pun   ·   REVISI mengembalikan dokumen ke pengisi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278892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2788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4838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838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493008"/>
            <a:ext cx="20756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Isi Dokumen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86200"/>
            <a:ext cx="24963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Detail biaya + tarif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Foto dokumen JPEG ≤ 2 MB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Import Excel massal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Tarif retribusi per depo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337560"/>
            <a:ext cx="278892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3337560"/>
            <a:ext cx="27889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12464" y="34838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12464" y="34838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3493008"/>
            <a:ext cx="20756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Mesin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2464" y="3886200"/>
            <a:ext cx="24963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BiayaApprovalService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ApprovalSectionResolver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approval_assignments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approval_histories (audit)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56048"/>
            <a:ext cx="5715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956048"/>
            <a:ext cx="5715000" cy="508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6384" y="51023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1023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111496"/>
            <a:ext cx="5001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12E81"/>
                </a:solidFill>
                <a:latin typeface="Calibri"/>
              </a:rPr>
              <a:t>Keluaran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504688"/>
            <a:ext cx="5422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PDF persetujuan · ekspor Excel per periode &amp; depo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Laporan Biaya THL / Retribusi · kandidat dari penerimaan berjalan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74536" y="3328416"/>
            <a:ext cx="37673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iaya-t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383280"/>
            <a:ext cx="3657600" cy="228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29400" y="57790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Biaya THL — pipeline approval &amp; detail biaya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KELUARAN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Workflow Pendukung — Laporan &amp; Notifikasi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D9488"/>
                </a:solidFill>
                <a:latin typeface="Calibri"/>
              </a:rPr>
              <a:t>📊  7 HALAMAN LAPORAN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74519"/>
          <a:ext cx="493775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78"/>
                <a:gridCol w="2724281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Laporan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Sumber Data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Replenishment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rencana_kirim + item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Inbound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penerimaan per depo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Penerimaan &amp; Expired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gabungan penerimaan + batch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Selisih Qty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expected vs actual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Biaya THL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biaya_thl + detail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Biaya Retribusi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biaya_retribusi + detail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2E81"/>
                          </a:solidFill>
                          <a:latin typeface="Calibri"/>
                        </a:rPr>
                        <a:t>Batch Expired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opname_expired_waves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89204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Filter tanggal + depo → ekspor Excel → gate permission reports.view.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591056"/>
            <a:ext cx="4498848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s-seli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438912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44988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Laporan Selisih Qty — filter periode + ekspor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846320"/>
            <a:ext cx="55778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4846320"/>
            <a:ext cx="55778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9904" y="499262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4992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001768"/>
            <a:ext cx="4864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Notifikasi Email Otomatis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5394960"/>
            <a:ext cx="528523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rencana_kirim/created → TO BLC, CC Cheker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receiving/completed → TO BLC, CC Admin Distribusi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sj_ba/validated &amp; selisih_qty → penerima khusus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SIAPA BOLEH MELAKUKAN 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Keamanan &amp; Otorisasi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72768"/>
          <a:ext cx="6675119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028"/>
                <a:gridCol w="5100091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Implementasi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Autentikasi Web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Sanctum stateful cookie — tanpa Bearer token di browser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CSRF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withCredentials + withXSRFToken, exchange /sanctum/csrf-cookie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Proxy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proxy.ts meneruskan /api/* &amp; /sanctum/* (cookie terikat domain)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Otorisasi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Middleware permission:* → CheckPermission → 403 + daftar permission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TrackUserActivity + queue LogUserActivity → user_activity_logs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Rate Limit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POST /login throttle 10 kali per menit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Integritas Status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Transisi status dikunci backend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12E81"/>
                          </a:solidFill>
                          <a:latin typeface="Calibri"/>
                        </a:rPr>
                        <a:t>Reset Data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database.purge hanya admin_master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43800" y="1572768"/>
            <a:ext cx="3977639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72768"/>
            <a:ext cx="3977639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010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1728216"/>
            <a:ext cx="32644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14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2121408"/>
            <a:ext cx="3685031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admin_master · staff_logistic · rlh · rfah · rh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blc · bac · admin_distirbusi · admin_planner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0D9488"/>
                </a:solidFill>
                <a:latin typeface="Calibri"/>
              </a:rPr>
              <a:t>▸ </a:t>
            </a:r>
            <a:r>
              <a:rPr sz="1150" b="0">
                <a:solidFill>
                  <a:srgbClr val="1E293B"/>
                </a:solidFill>
                <a:latin typeface="Calibri"/>
              </a:rPr>
              <a:t>cheker · sac · operator · ga · bh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936" y="3328416"/>
            <a:ext cx="4059936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383280"/>
            <a:ext cx="3950208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43800" y="5961888"/>
            <a:ext cx="3950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Layar Roles &amp; Permissions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RACI PADA WORKFLOW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Peran &amp; Tanggung Jawab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72768"/>
          <a:ext cx="1088135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286"/>
                <a:gridCol w="1785223"/>
                <a:gridCol w="680085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Peran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Tahap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Tanggung Jawab</a:t>
                      </a:r>
                    </a:p>
                  </a:txBody>
                  <a:tcPr anchor="ctr" marL="64008" marR="64008" marT="27432" marB="27432"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Admin Planner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1. Replenishment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Rencana kirim, dokumen, kendaraan, daftar barang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2. Check In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Gate-in kendaraan, pencatatan transaksi masuk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Cheker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3. Validasi SJ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Cocokkan dokumen vs fisik, qty/kondisi/expired, cetak label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Cheker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4. Check Out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Bongkar sampai selesai, status COMPLETED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Admin Distribusi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4. Check Out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Menerima notifikasi &amp; monitoring distribusi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RLH / RFAH / BLC / BAC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Biaya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Approval berjenjang biaya THL &amp; retribusi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Admin Master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Sistem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Users, roles, approval, email, reset data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2E81"/>
                          </a:solidFill>
                          <a:latin typeface="Calibri"/>
                        </a:rPr>
                        <a:t>RH / GA / SAC / Operator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Pendukung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Viewer &amp; pelaksana operasional depot</a:t>
                      </a:r>
                    </a:p>
                  </a:txBody>
                  <a:tcPr anchor="ctr" marL="64008" marR="64008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DAMPAK YANG DIHARAPKAN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Manfaat &amp; Indikator Keberhasilan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47472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5623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F46E5"/>
                </a:solidFill>
                <a:latin typeface="Calibri"/>
              </a:rPr>
              <a:t>Akurasi Stok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Qty aktual tercatat sekali saat validasi — selisih terdeteksi dini.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00200"/>
            <a:ext cx="34747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828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5623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D9488"/>
                </a:solidFill>
                <a:latin typeface="Calibri"/>
              </a:rPr>
              <a:t>Barang Tidak Salah Terima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Bongkar hanya setelah SJ/BA tercocokkan dengan fisik.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60020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600200"/>
            <a:ext cx="3474720" cy="6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828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85623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DC2626"/>
                </a:solidFill>
                <a:latin typeface="Calibri"/>
              </a:rPr>
              <a:t>Risiko Expired Turun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Peringatan AMAN/PERHATIAN/KRITIS/EXPIRED + verifikasi lapangan.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9476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794760"/>
            <a:ext cx="34747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023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0507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D9488"/>
                </a:solidFill>
                <a:latin typeface="Calibri"/>
              </a:rPr>
              <a:t>Biaya Terkendali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Biaya cair hanya setelah approval berjenjang &amp; jejak audit.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79476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3794760"/>
            <a:ext cx="347472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26280" y="4023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0507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F46E5"/>
                </a:solidFill>
                <a:latin typeface="Calibri"/>
              </a:rPr>
              <a:t>Kerja Kertas Minim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6634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Surat Jalan, label, dan laporan dihasilkan sistem.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94760"/>
            <a:ext cx="347472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3794760"/>
            <a:ext cx="3474720" cy="635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0" y="4023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0507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12E81"/>
                </a:solidFill>
                <a:latin typeface="Calibri"/>
              </a:rPr>
              <a:t>Jejak Audit Penuh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6634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Status, batch, aktivitas user, riwayat approval tersimpan.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YANG PERLU DIKETAHUI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12E81"/>
                </a:solidFill>
                <a:latin typeface="Calibri"/>
              </a:rPr>
              <a:t>Catatan Teknis &amp; Batasan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6473952"/>
            <a:ext cx="11935663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2881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ONEZENTRA Warehouse System  ·  Workflow, Fungsi &amp;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53035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53035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728216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Fakta Teknis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501091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Tanpa `any` di seluruh kode frontend TypeScript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Tanpa `setInterval` — tidak ada polling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Auth state hanya di memori (Zustand tanpa persist)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PDF Surat Jalan dirender client-side (jsPDF)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72768"/>
            <a:ext cx="53035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72768"/>
            <a:ext cx="53035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719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19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728216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Pengujian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121408"/>
            <a:ext cx="501091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Backend: PHPUnit — 99 file test, SQLite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Frontend: Vitest 5 + testing-library (coverage 30%)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Alur end-to-end diuji langsung ke API /api/v1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Rujukan: docs/QA_REPORT.md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58768"/>
            <a:ext cx="53035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58768"/>
            <a:ext cx="5303520" cy="50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4005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014216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C2626"/>
                </a:solidFill>
                <a:latin typeface="Calibri"/>
              </a:rPr>
              <a:t>Modul yang BELUM 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407408"/>
            <a:ext cx="501091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Appointment, ASN, Yard, Gates Master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Receiving Schedule, Put Away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Opname non-expired, FEFO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58768"/>
            <a:ext cx="53035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858768"/>
            <a:ext cx="53035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64224" y="400507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014216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Dokumen Terkait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407408"/>
            <a:ext cx="501091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docs/project_flow.md — struktur &amp; alur lengkap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docs/THL_RETRIBUSI_SYSTEM_FLOW.md — detail biaya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0D9488"/>
                </a:solidFill>
                <a:latin typeface="Calibri"/>
              </a:rPr>
              <a:t>▸ </a:t>
            </a:r>
            <a:r>
              <a:rPr sz="1250" b="0">
                <a:solidFill>
                  <a:srgbClr val="1E293B"/>
                </a:solidFill>
                <a:latin typeface="Calibri"/>
              </a:rPr>
              <a:t>docs/WORKFLOW_TUJUAN_SISTEM.md — versi teks deck ini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9488"/>
                </a:solidFill>
                <a:latin typeface="Calibri"/>
              </a:rPr>
              <a:t>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Satu alur barang, satu sumber kebenaran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926080"/>
            <a:ext cx="16459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337560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▸ </a:t>
            </a:r>
            <a:r>
              <a:rPr sz="1700" b="0">
                <a:solidFill>
                  <a:srgbClr val="E0E7FF"/>
                </a:solidFill>
                <a:latin typeface="Calibri"/>
              </a:rPr>
              <a:t>Replenishment → Check In → Validasi SJ → Check Out: satu jalur wajib dengan status terkunci.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▸ </a:t>
            </a:r>
            <a:r>
              <a:rPr sz="1700" b="0">
                <a:solidFill>
                  <a:srgbClr val="E0E7FF"/>
                </a:solidFill>
                <a:latin typeface="Calibri"/>
              </a:rPr>
              <a:t>Produk discan sekali di Validasi SJ; batch, label, dan receiving dibuat otomatis.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▸ </a:t>
            </a:r>
            <a:r>
              <a:rPr sz="1700" b="0">
                <a:solidFill>
                  <a:srgbClr val="E0E7FF"/>
                </a:solidFill>
                <a:latin typeface="Calibri"/>
              </a:rPr>
              <a:t>Opname expired &amp; sesi opname menjaga stok tetap layak jual.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▸ </a:t>
            </a:r>
            <a:r>
              <a:rPr sz="1700" b="0">
                <a:solidFill>
                  <a:srgbClr val="E0E7FF"/>
                </a:solidFill>
                <a:latin typeface="Calibri"/>
              </a:rPr>
              <a:t>Biaya THL &amp; retribusi cair hanya setelah approval berjenjang.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0D9488"/>
                </a:solidFill>
                <a:latin typeface="Calibri"/>
              </a:rPr>
              <a:t>▸ </a:t>
            </a:r>
            <a:r>
              <a:rPr sz="1700" b="0">
                <a:solidFill>
                  <a:srgbClr val="E0E7FF"/>
                </a:solidFill>
                <a:latin typeface="Calibri"/>
              </a:rPr>
              <a:t>RBAC + audit trail membuat setiap aksi dapat dipertanggungjawabkan.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669280"/>
            <a:ext cx="1737360" cy="4210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5852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5B4FC"/>
                </a:solidFill>
                <a:latin typeface="Calibri"/>
              </a:rPr>
              <a:t>ONEZENTRA Warehouse System · Next.js 16 + Laravel 11 · docs/ONEZENTRA_WORKFLOW.pptx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